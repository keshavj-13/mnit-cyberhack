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2F5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Account Takeover</c:v>
                  </c:pt>
                  <c:pt idx="1">
                    <c:v>Social Engineering</c:v>
                  </c:pt>
                  <c:pt idx="2">
                    <c:v>Transaction</c:v>
                  </c:pt>
                  <c:pt idx="3">
                    <c:v>Network</c:v>
                  </c:pt>
                  <c:pt idx="4">
                    <c:v>Device Trust</c:v>
                  </c:pt>
                  <c:pt idx="5">
                    <c:v>BEACON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66</c:v>
                </c:pt>
                <c:pt idx="2">
                  <c:v>10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8DE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8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689"/>
                    </a:solidFill>
                    <a:latin typeface="Arial"/>
                  </a:rPr>
                  <a:t>Risk contribution (0–100)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 risk</c:v>
                </c:pt>
              </c:strCache>
            </c:strRef>
          </c:tx>
          <c:spPr>
            <a:solidFill>
              <a:srgbClr val="2F5BA8"/>
            </a:solidFill>
            <a:ln w="38100" cap="flat">
              <a:solidFill>
                <a:srgbClr val="2F5B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F5BA8"/>
              </a:solidFill>
              <a:ln w="9525" cap="flat">
                <a:solidFill>
                  <a:srgbClr val="2F5B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1. Login</c:v>
                  </c:pt>
                  <c:pt idx="1">
                    <c:v>2. Phishing click</c:v>
                  </c:pt>
                  <c:pt idx="2">
                    <c:v>3. Device exploit</c:v>
                  </c:pt>
                  <c:pt idx="3">
                    <c:v>4. Transfer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45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4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E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8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689"/>
                    </a:solidFill>
                    <a:latin typeface="Arial"/>
                  </a:rPr>
                  <a:t>Risk score (0–100)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CBI HACKATHON 2026  ·  PROOF OF CONCEPT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219456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11500" dirty="0"/>
          </a:p>
        </p:txBody>
      </p:sp>
      <p:sp>
        <p:nvSpPr>
          <p:cNvPr id="4" name="Text 2"/>
          <p:cNvSpPr/>
          <p:nvPr/>
        </p:nvSpPr>
        <p:spPr>
          <a:xfrm>
            <a:off x="685800" y="3840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Behavioral Fraud Detection for Digital Banking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passive identity assurance that stops account-takeover fraud — even when the attacker has valid stolen credentials — without adding friction for genuine customers.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62356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7607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AURA</a:t>
            </a:r>
            <a:pPr indent="0" marL="0">
              <a:buNone/>
            </a:pPr>
            <a:r>
              <a:rPr lang="en-US" sz="15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Malaviya National Institute of Technology, Jaipur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credentials still walk right 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login means full access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security is a one-time check at the door. Once credentials are stolen, the attacker looks exactly like the customer.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identity check after login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re-verifies who is actually driving the session, action by action.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5720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adds friction, not safety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0292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customers get more steps, while sophisticated takeover attacks still get through.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1874520"/>
            <a:ext cx="4053535" cy="17373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148840"/>
            <a:ext cx="3504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₹1,457 Cr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18120" y="2971800"/>
            <a:ext cx="3322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Account-takeover losses across Indian banks, FY2024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3840480"/>
            <a:ext cx="4053535" cy="17373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4114800"/>
            <a:ext cx="3504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818120" y="4937760"/>
            <a:ext cx="3322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takeover attacks succeed using valid, stolen credentials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5852160"/>
            <a:ext cx="4053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RBI Annual Report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behavioral authentication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login  </a:t>
            </a:r>
            <a:pPr indent="0" marL="0">
              <a:buNone/>
            </a:pPr>
            <a:r>
              <a:rPr lang="en-US" sz="18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per-action identity assurance for the entire session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464994" cy="3200400"/>
          </a:xfrm>
          <a:prstGeom prst="roundRect">
            <a:avLst>
              <a:gd name="adj" fmla="val 2226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19163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biometrics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19163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Keystroke, mouse and navigation behaviour captured silently — zero customer friction.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0834" y="2148840"/>
            <a:ext cx="2464994" cy="3200400"/>
          </a:xfrm>
          <a:prstGeom prst="roundRect">
            <a:avLst>
              <a:gd name="adj" fmla="val 2226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5154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45154" y="3154680"/>
            <a:ext cx="19163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Six-model ML ensemble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5154" y="3840480"/>
            <a:ext cx="19163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fraud models score every action in parallel and fuse into one real-time risk number.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5868" y="2148840"/>
            <a:ext cx="2464994" cy="3200400"/>
          </a:xfrm>
          <a:prstGeom prst="roundRect">
            <a:avLst>
              <a:gd name="adj" fmla="val 2226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0188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0188" y="3154680"/>
            <a:ext cx="19163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Four-tier response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0188" y="3840480"/>
            <a:ext cx="19163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→ Challenge → Restrict → Contain, applied automatically as risk rises.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40901" y="2148840"/>
            <a:ext cx="2464994" cy="3200400"/>
          </a:xfrm>
          <a:prstGeom prst="roundRect">
            <a:avLst>
              <a:gd name="adj" fmla="val 2226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5221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315221" y="3154680"/>
            <a:ext cx="19163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 analyst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15221" y="3840480"/>
            <a:ext cx="19163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agent investigates incidents and briefs analysts in plain English.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577840"/>
            <a:ext cx="10820095" cy="640080"/>
          </a:xfrm>
          <a:prstGeom prst="roundRect">
            <a:avLst>
              <a:gd name="adj" fmla="val 8571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577840"/>
            <a:ext cx="10088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 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are caught mid-session even with the right password — genuine customers never notice a thing.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isolated surfaces, one risk engine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21408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Portal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banking with silent, encrypted behavioural telemetry.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78728" y="1828800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4488" y="2121408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SOC Dashboard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44488" y="269748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 monitoring, risk charts and ARIA investigations.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87368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Simulator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66344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end-to-end replay of real attack chains for evaluation.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78728" y="3794760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4087368"/>
            <a:ext cx="449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Portal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44488" y="466344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read-only walkthrough for demonstration.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820095" cy="658368"/>
          </a:xfrm>
          <a:prstGeom prst="roundRect">
            <a:avLst>
              <a:gd name="adj" fmla="val 8333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32120"/>
            <a:ext cx="108200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database</a:t>
            </a:r>
            <a:pPr algn="ctr" indent="0" marL="0">
              <a:buNone/>
            </a:pPr>
            <a:r>
              <a:rPr lang="en-US" sz="14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strict per-surface access control   ·   fully on-premise, zero external cloud dependencies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models score every action in real time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504895" cy="4206240"/>
          </a:xfrm>
          <a:prstGeom prst="roundRect">
            <a:avLst>
              <a:gd name="adj" fmla="val 1565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201168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chart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21040" y="251460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Takeover dominates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21040" y="2862072"/>
            <a:ext cx="28648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Keystroke rhythm no longer matches the genuine customer — the strongest single signal.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21040" y="361188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is elevated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21040" y="3959352"/>
            <a:ext cx="28648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originates from a phishing-style page.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21040" y="470916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fused, not averaged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321040" y="5056632"/>
            <a:ext cx="28648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weighted ensemble combines all six into one decision.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accumulates across the attack — and the response escalates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09560" y="1783080"/>
            <a:ext cx="3596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maps to an automatic tier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909560" y="2286000"/>
            <a:ext cx="1188720" cy="713232"/>
          </a:xfrm>
          <a:prstGeom prst="roundRect">
            <a:avLst>
              <a:gd name="adj" fmla="val 6410"/>
            </a:avLst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3408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09560" y="26883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20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81160" y="2286000"/>
            <a:ext cx="22247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banking, zero friction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09560" y="3200400"/>
            <a:ext cx="1188720" cy="713232"/>
          </a:xfrm>
          <a:prstGeom prst="roundRect">
            <a:avLst>
              <a:gd name="adj" fmla="val 6410"/>
            </a:avLst>
          </a:prstGeom>
          <a:solidFill>
            <a:srgbClr val="C98A00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2552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909560" y="36027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– 40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81160" y="3200400"/>
            <a:ext cx="22247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passcode required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909560" y="4114800"/>
            <a:ext cx="1188720" cy="713232"/>
          </a:xfrm>
          <a:prstGeom prst="roundRect">
            <a:avLst>
              <a:gd name="adj" fmla="val 6410"/>
            </a:avLst>
          </a:prstGeom>
          <a:solidFill>
            <a:srgbClr val="E8730C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41696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909560" y="4517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– 70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81160" y="4114800"/>
            <a:ext cx="22247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actions locked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909560" y="5029200"/>
            <a:ext cx="1188720" cy="713232"/>
          </a:xfrm>
          <a:prstGeom prst="roundRect">
            <a:avLst>
              <a:gd name="adj" fmla="val 6410"/>
            </a:avLst>
          </a:prstGeom>
          <a:solidFill>
            <a:srgbClr val="C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50840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909560" y="54315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– 100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81160" y="5029200"/>
            <a:ext cx="22247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held for identity check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5800" y="594360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risk: prior suspicious behaviour raises the baseline — risk never resets mid-session.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datasets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80360" y="1929384"/>
            <a:ext cx="0" cy="420624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783080"/>
            <a:ext cx="78940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SQLAlchemy · on-premise, no external services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615184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15184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80360" y="2761488"/>
            <a:ext cx="0" cy="420624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615184"/>
            <a:ext cx="78940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four independent banking surfaces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447288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47288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80360" y="3593592"/>
            <a:ext cx="0" cy="420624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447288"/>
            <a:ext cx="78940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BEACON behavioural model · LightGBM · gradient boosting · on-device language model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279392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279392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880360" y="4425696"/>
            <a:ext cx="0" cy="420624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279392"/>
            <a:ext cx="78940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Feedzai BAF (500K) · CMU Keystroke (20K) · phishing-websites (11K) · BEACON behavioural corpus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111496"/>
            <a:ext cx="10820095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11149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880360" y="5257800"/>
            <a:ext cx="0" cy="420624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5111496"/>
            <a:ext cx="78940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Windows-native build · one container per surface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architecture, model details and security design are covered in the technical write-up.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ANALYST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 investigates incidents on its own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44563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19445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630363" y="19202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04683" y="1920240"/>
            <a:ext cx="1944563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4683" y="1920240"/>
            <a:ext cx="19445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49246" y="19202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3566" y="1920240"/>
            <a:ext cx="1944563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3566" y="1920240"/>
            <a:ext cx="19445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68129" y="19202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42449" y="1920240"/>
            <a:ext cx="1944563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2449" y="1920240"/>
            <a:ext cx="19445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287012" y="19202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61332" y="1920240"/>
            <a:ext cx="1944563" cy="9144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1332" y="1920240"/>
            <a:ext cx="194456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31520" y="3456432"/>
            <a:ext cx="128016" cy="128016"/>
          </a:xfrm>
          <a:prstGeom prst="ellipse">
            <a:avLst/>
          </a:prstGeom>
          <a:solidFill>
            <a:srgbClr val="2F5BA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33756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continuously in the background — no analyst trigger required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128016" cy="128016"/>
          </a:xfrm>
          <a:prstGeom prst="ellipse">
            <a:avLst/>
          </a:prstGeom>
          <a:solidFill>
            <a:srgbClr val="2F5BA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0448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related security events per customer over a rolling time window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590288"/>
            <a:ext cx="128016" cy="128016"/>
          </a:xfrm>
          <a:prstGeom prst="ellipse">
            <a:avLst/>
          </a:prstGeom>
          <a:solidFill>
            <a:srgbClr val="2F5BA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471416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plain-language evidence for each flagged incident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5157216"/>
            <a:ext cx="128016" cy="128016"/>
          </a:xfrm>
          <a:prstGeom prst="ellipse">
            <a:avLst/>
          </a:prstGeom>
          <a:solidFill>
            <a:srgbClr val="2F5BA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03834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Summarises what happened, why, and the recommended action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5724144"/>
            <a:ext cx="128016" cy="128016"/>
          </a:xfrm>
          <a:prstGeom prst="ellipse">
            <a:avLst/>
          </a:prstGeom>
          <a:solidFill>
            <a:srgbClr val="2F5BA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605272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every finding to the analyst dashboard in real time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AURA matters in production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62858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127248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caught before any transfer completes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4418" y="1828800"/>
            <a:ext cx="3362858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7298" y="210312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97298" y="27432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friction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8738" y="3127248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customers see no extra steps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43037" y="1828800"/>
            <a:ext cx="3362858" cy="18288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5917" y="210312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25917" y="274320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7357" y="3127248"/>
            <a:ext cx="2814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cloud services or data egress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142232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2336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attackers in real time even when they hold valid credentials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31520" y="4599432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48056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takeover-fraud losses without adding passcode fatigue for normal transactions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31520" y="5056632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93776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model architecture — banks can add their own proprietary fraud models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31520" y="5513832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9496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with RBI guidance on multi-factor authentication and session security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31520" y="5971032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85216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on-premise — no external subscriptions or customer-data egress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AURA goes next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fraud models across banks without sharing any customer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9178" y="182880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3498" y="205740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Banking-domain tuning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73498" y="254203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 the behavioural model as labelled session data accumulates.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12557" y="182880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6877" y="205740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SDK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86877" y="254203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behavioural signals to native banking apps.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cryptography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0120" y="423367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post-quantum standards for session protection.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99178" y="352044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3498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integration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73498" y="423367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high-risk UPI payments the moment a session is contained.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12557" y="3520440"/>
            <a:ext cx="3393338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6877" y="3749040"/>
            <a:ext cx="2844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threat intelligence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86877" y="4233672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investigations across participating banks.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532120"/>
            <a:ext cx="10820095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532120"/>
            <a:ext cx="108200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pPr algn="ctr"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autonomous, on-premise behavioural defence for Indian banking.      </a:t>
            </a:r>
            <a:pPr algn="ctr" indent="0" marL="0">
              <a:buNone/>
            </a:pPr>
            <a:r>
              <a:rPr lang="en-US" sz="1500" i="1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6355080"/>
            <a:ext cx="10820095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Behavioral Fraud Intelligence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77095" y="6419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— AI-Driven Behavioral Fraud Detection</dc:title>
  <dc:subject>PptxGenJS Presentation</dc:subject>
  <dc:creator>Team AURA — MNIT Jaipur</dc:creator>
  <cp:lastModifiedBy>Team AURA — MNIT Jaipur</cp:lastModifiedBy>
  <cp:revision>1</cp:revision>
  <dcterms:created xsi:type="dcterms:W3CDTF">2026-06-30T07:43:40Z</dcterms:created>
  <dcterms:modified xsi:type="dcterms:W3CDTF">2026-06-30T07:43:40Z</dcterms:modified>
</cp:coreProperties>
</file>